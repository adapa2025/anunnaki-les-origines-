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12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36576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73152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00584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256032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448056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75488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457200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8288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82296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46304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66160"/>
            <a:ext cx="41148" cy="411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74320"/>
            <a:ext cx="3474720" cy="3474720"/>
          </a:xfrm>
          <a:prstGeom prst="ellipse">
            <a:avLst/>
          </a:prstGeom>
          <a:solidFill>
            <a:srgbClr val="C0392B">
              <a:alpha val="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00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 AUBURE  ·  22 MARS 2026  ·  LENDEMAIN D'ÉQUINOXE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749808"/>
            <a:ext cx="7315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RÉSILIENCE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274320" y="16642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 À L'EFFONDREMENT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3657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57860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l'histoire nous apprend.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données confirment.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l'intelligence collective peut construire.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 ›  PRÉPARATION  ›  COMMUNAUTÉ  ›  DURÉE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SURVIVALISME ≠ RÉSILIENCE — POURQUOI ÇA CHANGE TOUT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566160"/>
          </a:xfrm>
          <a:prstGeom prst="rect">
            <a:avLst/>
          </a:prstGeom>
          <a:solidFill>
            <a:srgbClr val="0A0F1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SURVIVALISME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74904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276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Survivre à une catastrophe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211226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Posture défensive et réactive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59689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Isolement — stocks individuels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308152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Horizon : la crise elle-même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356616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Image anxiogène — marginalisant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405079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"Quand tout s'effondre, je tiens"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3566160"/>
          </a:xfrm>
          <a:prstGeom prst="rect">
            <a:avLst/>
          </a:prstGeom>
          <a:solidFill>
            <a:srgbClr val="0A0F1A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RÉSILIENCE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92040" y="1572768"/>
            <a:ext cx="374904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6276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Vivre mieux et durer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211226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Posture proactive et constructive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59689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Mutualisation — forces complémentaires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308152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Horizon : l'avant, le pendant, l'après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356616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 accessible — désirable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405079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"Comment construire quelque chose qui tienne"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</a:rPr>
              <a:t>≠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mots que nous choisissons déterminent qui nous touche. "Résilience" ouvre des portes que "survivalisme" ferme.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LA LEÇON DE SARAJEVO — CE QUE L'HISTOIRE DÉMONTRE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1A080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FAITS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Siège le plus long de l'histoire moderne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0665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44 mois consécutifs · 360 000 habitants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329 impacts d'obus par jour en moyenne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0540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Eau, gaz, électricité coupés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−20°C en hiver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041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La ville a TENU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0D1A0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70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PARADOXE VILLE / CAMPAGNE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Les campagnes ont été pillées systématiquement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06654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Les fermes isolées = cibles prioritaires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5603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Population urbaine : 20% → 44% après la guerre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0540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 qui a sauvé Sarajevo : les réseaux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5478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Communautés de rue de 15-20 maisons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40416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Marché noir = économie informelle fonctionnelle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"Vous chercherez à être le plus petit, le plus invisible, le moins intéressant possible." — Selco Begovic, survivant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LA RÉSILIENCE COLLECTIVE — SAN GIORGIO, SARAJEVO, ET LA RÉALITÉ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solidFill>
            <a:srgbClr val="1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Piero San Giorgio (Rues Barbares) : le village résilient n'est pas une ferme isolée — c'est un ensemble d'habitations interconnectées, capables de réagir collectivement face au danger. Chaque maison a un rôle. Chaque habitant connaît ses voisins.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834640" cy="2514600"/>
          </a:xfrm>
          <a:prstGeom prst="rect">
            <a:avLst/>
          </a:prstGeom>
          <a:solidFill>
            <a:srgbClr val="0A0F1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13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SARAJEVO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256032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7066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Min. 6 personnes armées en rotation pour tenir un point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218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Impossible seul — fatigue, maladie, sommeil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730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 patrouille collective &gt; l'arsenal individuel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424281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 rue organisée = la vraie unité de défense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2240280"/>
            <a:ext cx="2834640" cy="2514600"/>
          </a:xfrm>
          <a:prstGeom prst="rect">
            <a:avLst/>
          </a:prstGeom>
          <a:solidFill>
            <a:srgbClr val="0A0F1A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9272" y="2313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 GIORGIO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9272" y="2651760"/>
            <a:ext cx="256032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7066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 village comme BAD collective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218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Rôles distribués : sécurité, logistique, eau, soins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730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Réaction coordonnée face à l'intrusion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424281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Connaître ses voisins AVANT la crise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2240280"/>
            <a:ext cx="2834640" cy="2514600"/>
          </a:xfrm>
          <a:prstGeom prst="rect">
            <a:avLst/>
          </a:prstGeom>
          <a:solidFill>
            <a:srgbClr val="0A0F1A"/>
          </a:solidFill>
          <a:ln w="1905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2784" y="2313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RÉALITÉ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2784" y="2651760"/>
            <a:ext cx="2560320" cy="274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27066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Les querelles de voisinage consomment l'énergie qui devrait aller à la construction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3218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 conflit précède souvent la communauté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3730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Sélectionner les membres AVANT la crise est le seul modèle viable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fondamentale : la résilience ne se construit pas pendant la crise. Elle se construit avant, avec les personnes qui ont déjà compris.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LES 4 PILIERS TECHNIQUES DE LA RÉSILIENCE MATÉRIELLE</a:t>
            </a:r>
            <a:endParaRPr lang="en-US" sz="1800" dirty="0"/>
          </a:p>
        </p:txBody>
      </p:sp>
      <p:pic>
        <p:nvPicPr>
          <p:cNvPr id="5" name="Image 0" descr="/home/claude/images_resilience/600500821_876631351783129_8274124381567940949_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210312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14600" y="1051560"/>
            <a:ext cx="1572768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14600" y="1051560"/>
            <a:ext cx="1572768" cy="502920"/>
          </a:xfrm>
          <a:prstGeom prst="rect">
            <a:avLst/>
          </a:prstGeom>
          <a:solidFill>
            <a:srgbClr val="27AE60">
              <a:alpha val="2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0" y="10789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EAU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87752" y="160934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Filtre à gravité (0 électricité)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87752" y="2231136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Citerne + récupération pluie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87752" y="28529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Jamais sous la moitié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87752" y="34747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3L/jour/personne minimum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78808" y="1051560"/>
            <a:ext cx="1572768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78808" y="1051560"/>
            <a:ext cx="1572768" cy="502920"/>
          </a:xfrm>
          <a:prstGeom prst="rect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24528" y="10789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ÉNERGIE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51960" y="160934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Poêle à bois ou rocket stove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51960" y="2231136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Panneau solaire + batterie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251960" y="28529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Biodigesteur (biogaz + engrais)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251960" y="34747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Bois sec stocké 2 ans d'avance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43016" y="1051560"/>
            <a:ext cx="1572768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43016" y="1051560"/>
            <a:ext cx="1572768" cy="502920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88736" y="10789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ALIMENTATION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16168" y="160934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Stocks rotation FIFO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16168" y="2231136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Cave souterraine ventilée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16168" y="28529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Animaux : canard coureur &gt; poule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16168" y="34747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Walipini pour production continue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507224" y="1051560"/>
            <a:ext cx="1572768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507224" y="1051560"/>
            <a:ext cx="1572768" cy="502920"/>
          </a:xfrm>
          <a:prstGeom prst="rect">
            <a:avLst/>
          </a:prstGeom>
          <a:solidFill>
            <a:srgbClr val="8E44AD">
              <a:alpha val="25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52944" y="10789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SANTÉ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580376" y="160934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Bobologie + Trauma Kit (IFAK)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580376" y="2231136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Garrot par personne du groupe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580376" y="28529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Pharmacie longue durée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580376" y="34747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Plantes médicinales locales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universel : chaque pilier doit fonctionner sans électricité, sans réseau, sans approvisionnement externe.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LE WALIPINI — LA SERRE QUI CHANGE TOUT</a:t>
            </a:r>
            <a:endParaRPr lang="en-US" sz="1800" dirty="0"/>
          </a:p>
        </p:txBody>
      </p:sp>
      <p:pic>
        <p:nvPicPr>
          <p:cNvPr id="5" name="Image 0" descr="/home/claude/images_resilience/621822390_122273245580162598_2924814193701585654_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3891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92040" y="1078992"/>
            <a:ext cx="3931920" cy="548640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10912" y="1106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Géothermie naturelle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10912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8-12°C stables toute l'année, sans chauffage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2040" y="1691640"/>
            <a:ext cx="3931920" cy="548640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10912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12 mois/an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10912" y="1965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électricité, sans combustible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92040" y="2304288"/>
            <a:ext cx="3931920" cy="548640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10912" y="2331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physique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10912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 du vent, des projections, des intempéries extrêmes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92040" y="2916936"/>
            <a:ext cx="3931920" cy="548640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10912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Luminosité réduite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10912" y="3191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adaptées : salades, choux, herbes aromatiques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92040" y="3529584"/>
            <a:ext cx="3931920" cy="548640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10912" y="3557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Discrétion (OPSEC)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10912" y="3803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depuis l'extérieur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92040" y="4142232"/>
            <a:ext cx="3931920" cy="548640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912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50-100m²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10912" y="4416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cible pour une communauté de 8-15 personnes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Quechua : Walipini = "lieu de chaleur". Documenté par le Benson Institute (BYU, 2002). Construit avec des matériaux locaux.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ÉNERGIE SOUVERAINE — LE BOIS, LE BIOGAZ, LE SOLEIL</a:t>
            </a:r>
            <a:endParaRPr lang="en-US" sz="1800" dirty="0"/>
          </a:p>
        </p:txBody>
      </p:sp>
      <p:pic>
        <p:nvPicPr>
          <p:cNvPr id="5" name="Image 0" descr="/home/claude/images_resilience/624268535_122341563368001850_5735443196985176292_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3200400" cy="3749040"/>
          </a:xfrm>
          <a:prstGeom prst="rect">
            <a:avLst/>
          </a:prstGeom>
        </p:spPr>
      </p:pic>
      <p:pic>
        <p:nvPicPr>
          <p:cNvPr id="6" name="Image 1" descr="/home/claude/images_resilience/623356196_122273586656162598_5112027408056948279_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6160" y="1051560"/>
            <a:ext cx="2560320" cy="3749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9360" y="1078992"/>
            <a:ext cx="2560320" cy="1143000"/>
          </a:xfrm>
          <a:prstGeom prst="rect">
            <a:avLst/>
          </a:prstGeom>
          <a:solidFill>
            <a:srgbClr val="0A0A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46520" y="1115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Rocket Stove Mass Heater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46520" y="14356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moins de bois qu'un poêle classique. Diffusion douce 12-24h après combustion courte.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309360" y="2313432"/>
            <a:ext cx="2560320" cy="1143000"/>
          </a:xfrm>
          <a:prstGeom prst="rect">
            <a:avLst/>
          </a:prstGeom>
          <a:solidFill>
            <a:srgbClr val="0A0A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46520" y="2350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Biodigesteur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46520" y="267004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Déchets organiques → biogaz (cuisson) + digestat (engrais). Zéro déchet, zéro achat.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09360" y="3547872"/>
            <a:ext cx="2560320" cy="1143000"/>
          </a:xfrm>
          <a:prstGeom prst="rect">
            <a:avLst/>
          </a:prstGeom>
          <a:solidFill>
            <a:srgbClr val="0A0A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Solaire photovoltaïque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46520" y="39044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électrique. Minimum : station 1000W + batterie. Recharge radio, téléphones.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stocker 2 ans de bois sec minimum. Le bois qui sèche = le bois de l'année prochaine, pas de celle-ci.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L'EAU — PREMIER CRITÈRE DE SURVIE ET DE LOCALISATION</a:t>
            </a:r>
            <a:endParaRPr lang="en-US" sz="1800" dirty="0"/>
          </a:p>
        </p:txBody>
      </p:sp>
      <p:pic>
        <p:nvPicPr>
          <p:cNvPr id="5" name="Image 0" descr="/home/claude/images_resilience/605739150_122280941216191140_1180155693285936026_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029200" cy="3474720"/>
          </a:xfrm>
          <a:prstGeom prst="rect">
            <a:avLst/>
          </a:prstGeom>
        </p:spPr>
      </p:pic>
      <p:pic>
        <p:nvPicPr>
          <p:cNvPr id="6" name="Image 1" descr="/home/claude/images_resilience/600500821_876631351783129_8274124381567940949_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05156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32120" y="3429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Source naturelle = critère BAD n°1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532120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Citerne pluie : ressource gratuite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532120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Filtre gravité : zéro électricité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532120" y="42519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Micro-hydro si dénivelé disponible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3L/j/pers minimum · 20L/j usage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 d'eau = urgence immédiate. L'autonomie hydrique est le premier investissement non-négociable.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— STOCKER POUR DURER — LA CAVE ET LE STOCK LONG TERME</a:t>
            </a:r>
            <a:endParaRPr lang="en-US" sz="1800" dirty="0"/>
          </a:p>
        </p:txBody>
      </p:sp>
      <p:pic>
        <p:nvPicPr>
          <p:cNvPr id="5" name="Image 0" descr="/home/claude/images_resilience/623777690_122160244766866448_4047901308060064271_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1148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078992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115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cible 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7220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ans. Pour un effondrement long : 7 ans.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591056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6276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stable 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16276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 souterraine : 8-12°C constant — idéale pour légumes, conserves, vin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103120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139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naturelle 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2200" y="21396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frais entrant bas, air chaud sortant haut — sans électricité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615184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651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FIFO 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72200" y="2651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entré, premier sorti. Ne jamais bloquer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127248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Conserves métalliques 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72200" y="31638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réelle : 10+ ans au sec et à l'abri de la chaleur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3639312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675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Légumineuses 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72200" y="36758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congélateur avant stockage → élimination micro-insectes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3440" y="4151376"/>
            <a:ext cx="4206240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4187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liquide 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41879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Distributeurs HS dès J+1 d'une crise. DM = leçon Sarajevo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Mouton-Résilient : "Jamais sous la moitié." Réapprovisionner avant d'atteindre 50% du stock.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— LE PIONNIER ISOLÉ — RÉALITÉ DE CELUI QUI VOIT EN PREMIER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011680"/>
          </a:xfrm>
          <a:prstGeom prst="rect">
            <a:avLst/>
          </a:prstGeom>
          <a:solidFill>
            <a:srgbClr val="15050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Ceux qui voient avant les autres portent seuls ce qui devrait être porté collectivement.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Ils construisent les fondations d'une structure qui, par définition, a besoin d'autres personnes.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 personnes ne bougent pas encore.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3291840"/>
            <a:ext cx="2834640" cy="1554480"/>
          </a:xfrm>
          <a:prstGeom prst="rect">
            <a:avLst/>
          </a:prstGeom>
          <a:solidFill>
            <a:srgbClr val="0A0F1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64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L'ISOLEMENT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30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autour ne construit ce que vous construisez. Ce n'est pas de l'orgueil — c'est la position du guetteur. Cassandre voyait juste.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3291840"/>
            <a:ext cx="2834640" cy="1554480"/>
          </a:xfrm>
          <a:prstGeom prst="rect">
            <a:avLst/>
          </a:prstGeom>
          <a:solidFill>
            <a:srgbClr val="0A0F1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3364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3730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seul ce qui devrait être collectif est épuisant. L'effort asymétrique est réel. Il ne doit pas arrêter le mouvement.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3291840"/>
            <a:ext cx="2834640" cy="1554480"/>
          </a:xfrm>
          <a:prstGeom prst="rect">
            <a:avLst/>
          </a:prstGeom>
          <a:solidFill>
            <a:srgbClr val="0A0F1A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3364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FONCTION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3730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Planter des balises. Pas pour convaincre tout le monde. Pour que quelques personnes reconnaissent ce que vous portez et commencent à porter avec vous.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résilience a besoin d'un tuteur." — Boris Cyrulnik  ·  On ne devient pas résilient seul.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— AUBURE — CE N'EST PAS UN HASARD D'ÊTRE ICI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530352"/>
          </a:xfrm>
          <a:prstGeom prst="rect">
            <a:avLst/>
          </a:prstGeom>
          <a:solidFill>
            <a:srgbClr val="0A1505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957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C10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~600m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face aux inondations et montée des eaux côtières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8595360" cy="530352"/>
          </a:xfrm>
          <a:prstGeom prst="rect">
            <a:avLst/>
          </a:prstGeom>
          <a:solidFill>
            <a:srgbClr val="0A1505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7393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83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C10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746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 vosgienne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9842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Bois, eau, gibier, discrétion naturelle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8595360" cy="530352"/>
          </a:xfrm>
          <a:prstGeom prst="rect">
            <a:avLst/>
          </a:prstGeom>
          <a:solidFill>
            <a:srgbClr val="0A1505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6829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C10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abondante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5786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ruisseaux — critère premier d'une BAD viable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98648"/>
            <a:ext cx="8595360" cy="530352"/>
          </a:xfrm>
          <a:prstGeom prst="rect">
            <a:avLst/>
          </a:prstGeom>
          <a:solidFill>
            <a:srgbClr val="0A1505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6265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71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C10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2935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densité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729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compétition sur les ressources, moins de violence sociale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8595360" cy="530352"/>
          </a:xfrm>
          <a:prstGeom prst="rect">
            <a:avLst/>
          </a:prstGeom>
          <a:solidFill>
            <a:srgbClr val="0A1505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5701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66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C10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des côtes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767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Éloignement des zones de panique en cas de rupture majeure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087368"/>
            <a:ext cx="8595360" cy="530352"/>
          </a:xfrm>
          <a:prstGeom prst="rect">
            <a:avLst/>
          </a:prstGeom>
          <a:solidFill>
            <a:srgbClr val="0A1505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5137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605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C10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4123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existante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3616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personnes qui se connaissent, qui ont travaillé sur elles-mêmes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qui sont ici aujourd'hui ne se sont pas trompés d'endroit. La question n'est pas : "pourquoi venir ?" Mais : "que construit-on ensemble ?"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— LA SPÉCIFICITÉ — PRÉPARER POUR UNE DÉCENNIE, PAS 3 MOIS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effondrement historique a une structure temporelle. Les trois premiers mois sont décisifs.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834640" cy="3200400"/>
          </a:xfrm>
          <a:prstGeom prst="rect">
            <a:avLst/>
          </a:prstGeom>
          <a:solidFill>
            <a:srgbClr val="0A0F1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2834640" cy="45720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 → 3 MOIS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CHOC INITIAL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246888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42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Rupture des systèmes habituels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0723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Violence sociale maximale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6027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"Les 3 premiers mois déterminent qui survit"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DOS niveau 1 = minimum vital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1572768"/>
            <a:ext cx="2834640" cy="3200400"/>
          </a:xfrm>
          <a:prstGeom prst="rect">
            <a:avLst/>
          </a:prstGeom>
          <a:solidFill>
            <a:srgbClr val="0A0F1A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572768"/>
            <a:ext cx="2834640" cy="457200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 → 2 ANS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2468880"/>
            <a:ext cx="24688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542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Réorganisation locale spontanée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30723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Économie informelle / troc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36027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Les préparés ont une longueur d'avance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64992" y="41330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BAD devient opérationnelle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1572768"/>
            <a:ext cx="2834640" cy="3200400"/>
          </a:xfrm>
          <a:prstGeom prst="rect">
            <a:avLst/>
          </a:prstGeom>
          <a:solidFill>
            <a:srgbClr val="0A0F1A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1572768"/>
            <a:ext cx="2834640" cy="457200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7+ ANS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784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DURÉE LONGUE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18504" y="2468880"/>
            <a:ext cx="246888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542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Scénarios d'effondrement profond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18504" y="30723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Production alimentaire continue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18504" y="36027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Communauté structurée indispensable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18504" y="41330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Walipini — énergie souveraine — eau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résilience se prépare pour la durée réelle — pas pour ce qu'on espère. Celui qui se prépare pour 3 mois sera dépassé si l'effondrement dure 7 ans.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0" y="2743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7315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18288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54864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2801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09728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3891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411480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44805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92608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392B">
              <a:alpha val="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→ ÉTÉ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100584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DERNIÈRE FENÊTRE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PRÉPARATION MATÉRIELLE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1828800" y="2606040"/>
            <a:ext cx="54864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88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Installer le filtre à eau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227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Constituer les stocks (2 ans minimum)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6667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Identifier les voisins compétents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788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Évaluer la localisation géographique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227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Planter les semences pérennes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6667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Construire le premier élément autonome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n'est pas construit avant ne sera pas construit pendant.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432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8288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45720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82296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92608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28600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RÉSILIENCE N'EST PAS UNE OPTION.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4320" y="1371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 LA RÉPONSE.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371600" y="2103120"/>
            <a:ext cx="6400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240280"/>
            <a:ext cx="7680960" cy="420624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276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2768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Proactive, communautaire, durable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715768"/>
            <a:ext cx="7680960" cy="420624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Sarajevo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7523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Les réseaux &gt; les bunkers individuels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191256"/>
            <a:ext cx="7680960" cy="420624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Walipini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2278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Production alimentaire continue, protégée, sans énergie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666744"/>
            <a:ext cx="7680960" cy="420624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703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703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8-30 personnes, sélection par altruisme, gouvernance tacite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142232"/>
            <a:ext cx="7680960" cy="420624"/>
          </a:xfrm>
          <a:prstGeom prst="rect">
            <a:avLst/>
          </a:prstGeom>
          <a:solidFill>
            <a:srgbClr val="0A1505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178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4178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Maintenant → été 2026 — dernier moment pour construire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EX SILICIUM — Marc · Claude · Jimeng · Paco  ·  Aubure, 22 mars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1514</Words>
  <Application>Microsoft Office PowerPoint</Application>
  <PresentationFormat>Affichage à l'écran (16:9)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Résilience — Aubure 22 Mars 2026</dc:title>
  <dc:subject>PptxGenJS Presentation</dc:subject>
  <dc:creator>PptxGenJS</dc:creator>
  <cp:lastModifiedBy>Perso</cp:lastModifiedBy>
  <cp:revision>1</cp:revision>
  <dcterms:created xsi:type="dcterms:W3CDTF">2026-03-20T11:24:14Z</dcterms:created>
  <dcterms:modified xsi:type="dcterms:W3CDTF">2026-03-20T11:41:45Z</dcterms:modified>
</cp:coreProperties>
</file>